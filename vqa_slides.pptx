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1A"/>
                </a:solidFill>
                <a:latin typeface="Calibri"/>
              </a:defRPr>
            </a:pPr>
            <a:r>
              <a:t>Visual Question Answering</a:t>
            </a:r>
            <a:br/>
            <a:r>
              <a:t>on Chart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Multi-Scale CNN + Transformer + Cross-Attention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88"/>
                </a:solidFill>
                <a:latin typeface="Calibri"/>
              </a:defRPr>
            </a:pPr>
            <a:r>
              <a:t>Ahmad Agah  |  Winter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 What is Visual Question Answering?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  <a:latin typeface="Calibri"/>
              </a:defRPr>
            </a:pPr>
            <a:r>
              <a:t>Given a chart image and a natural language question, predict Yes or No.</a:t>
            </a:r>
          </a:p>
          <a:p>
            <a:pPr>
              <a:spcBef>
                <a:spcPts val="600"/>
              </a:spcBef>
              <a:defRPr sz="1800" b="0">
                <a:solidFill>
                  <a:srgbClr val="555555"/>
                </a:solidFill>
                <a:latin typeface="Calibri"/>
              </a:defRPr>
            </a:pPr>
            <a:r>
              <a:t>The model must jointly understand visual content and language to reason about data encoded in charts.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474720"/>
            <a:ext cx="2011680" cy="12801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Chart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474720"/>
            <a:ext cx="2011680" cy="12801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5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"Is dark blue</a:t>
            </a:r>
            <a:br/>
            <a:r>
              <a:t>greater than red?"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474720"/>
            <a:ext cx="2011680" cy="12801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49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VQA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474720"/>
            <a:ext cx="2011680" cy="12801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Yes / No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83280" y="3886200"/>
            <a:ext cx="457200" cy="36576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943600" y="3886200"/>
            <a:ext cx="457200" cy="36576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8412480" y="3886200"/>
            <a:ext cx="457200" cy="36576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  <a:latin typeface="Calibri"/>
              </a:defRPr>
            </a:pPr>
            <a:r>
              <a:t>The core challenge: Fine-grained color discrimination — is "Dark Seafoam" greater than "Medium Seafoam"?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 FigureQA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Chart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100,000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QA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1,327,368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Chart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5 (bar, line, pie, dot-line, area)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Class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50/50 Yes/No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Image Splits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80K / 10K / 10K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128 unique words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86C8"/>
                </a:solidFill>
                <a:latin typeface="Calibri"/>
              </a:defRPr>
            </a:pPr>
            <a:r>
              <a:t>15 Templated Question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Calibri"/>
              </a:defRPr>
            </a:pPr>
            <a:r>
              <a:t>Identification:  "Is X the minimum/maximum?"</a:t>
            </a:r>
          </a:p>
          <a:p>
            <a:pPr>
              <a:spcBef>
                <a:spcPts val="800"/>
              </a:spcBef>
              <a:defRPr sz="1500" b="0">
                <a:solidFill>
                  <a:srgbClr val="1A1A1A"/>
                </a:solidFill>
                <a:latin typeface="Calibri"/>
              </a:defRPr>
            </a:pPr>
            <a:r>
              <a:t>Comparison:  "Is X greater/less than Y?"</a:t>
            </a:r>
          </a:p>
          <a:p>
            <a:pPr>
              <a:spcBef>
                <a:spcPts val="800"/>
              </a:spcBef>
              <a:defRPr sz="1500" b="0">
                <a:solidFill>
                  <a:srgbClr val="1A1A1A"/>
                </a:solidFill>
                <a:latin typeface="Calibri"/>
              </a:defRPr>
            </a:pPr>
            <a:r>
              <a:t>Median:  "Is X the median?"</a:t>
            </a:r>
          </a:p>
          <a:p>
            <a:pPr>
              <a:spcBef>
                <a:spcPts val="800"/>
              </a:spcBef>
              <a:defRPr sz="1500" b="0">
                <a:solidFill>
                  <a:srgbClr val="1A1A1A"/>
                </a:solidFill>
                <a:latin typeface="Calibri"/>
              </a:defRPr>
            </a:pPr>
            <a:r>
              <a:t>Smoothness:  "Is X the smoothest/roughest?"</a:t>
            </a:r>
          </a:p>
          <a:p>
            <a:pPr>
              <a:spcBef>
                <a:spcPts val="800"/>
              </a:spcBef>
              <a:defRPr sz="1500" b="0">
                <a:solidFill>
                  <a:srgbClr val="1A1A1A"/>
                </a:solidFill>
                <a:latin typeface="Calibri"/>
              </a:defRPr>
            </a:pPr>
            <a:r>
              <a:t>Intersection:  "Does X intersect Y?"</a:t>
            </a:r>
          </a:p>
          <a:p>
            <a:pPr>
              <a:spcBef>
                <a:spcPts val="800"/>
              </a:spcBef>
              <a:defRPr sz="1500" b="0">
                <a:solidFill>
                  <a:srgbClr val="1A1A1A"/>
                </a:solidFill>
                <a:latin typeface="Calibri"/>
              </a:defRPr>
            </a:pPr>
            <a:r>
              <a:t>Area under curve:  "Does X have the largest area?"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Why split by image?</a:t>
            </a:r>
          </a:p>
          <a:p>
            <a:pPr>
              <a:spcBef>
                <a:spcPts val="600"/>
              </a:spcBef>
              <a:defRPr sz="1600" b="0">
                <a:solidFill>
                  <a:srgbClr val="555555"/>
                </a:solidFill>
                <a:latin typeface="Calibri"/>
              </a:defRPr>
            </a:pPr>
            <a:r>
              <a:t>Each chart generates ~13 QA pairs. Random splitting would leak visual features across train/val/test sets. I split by image to ensure the model never sees the same chart during evaluation.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libri"/>
              </a:defRPr>
            </a:pPr>
            <a:r>
              <a:t>Two-stream architecture: images and text processed in parallel, fused via cross-attention.</a:t>
            </a:r>
          </a:p>
        </p:txBody>
      </p:sp>
      <p:pic>
        <p:nvPicPr>
          <p:cNvPr id="5" name="Picture 4" descr="architecture_from_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309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21.9M parameters (from-scratch CNN)  /  26.2M parameters (with ResNet-18)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4. Image Encoder: Multi-Scale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86C8"/>
                </a:solidFill>
                <a:latin typeface="Calibri"/>
              </a:defRPr>
            </a:pPr>
            <a:r>
              <a:t>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86C8"/>
                </a:solidFill>
                <a:latin typeface="Calibri"/>
              </a:defRPr>
            </a:pPr>
            <a:r>
              <a:t>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86C8"/>
                </a:solidFill>
                <a:latin typeface="Calibri"/>
              </a:defRPr>
            </a:pPr>
            <a:r>
              <a:t>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86C8"/>
                </a:solidFill>
                <a:latin typeface="Calibri"/>
              </a:defRPr>
            </a:pPr>
            <a:r>
              <a:t>Spatial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86C8"/>
                </a:solidFill>
                <a:latin typeface="Calibri"/>
              </a:defRPr>
            </a:pPr>
            <a:r>
              <a:t>What it learns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Conv1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3 → 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7×7, stride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224 → 112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Edges, basic textures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Conv2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64 → 256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3×3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56 → 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Color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Conv3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256 → 512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3×3, stride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56 → 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Colors &amp; edges (mid-level)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Conv4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512 → 1024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3×3, stride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14 →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Semantic structure (high-level)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Multi-scale fusion:</a:t>
            </a:r>
          </a:p>
          <a:p>
            <a:pPr>
              <a:spcBef>
                <a:spcPts val="600"/>
              </a:spcBef>
              <a:defRPr sz="1700" b="0">
                <a:solidFill>
                  <a:srgbClr val="1A1A1A"/>
                </a:solidFill>
                <a:latin typeface="Calibri"/>
              </a:defRPr>
            </a:pPr>
            <a:r>
              <a:t>Mid-level features (Conv3, 14×14) capture color information crucial for chart questions.</a:t>
            </a:r>
          </a:p>
          <a:p>
            <a:pPr>
              <a:spcBef>
                <a:spcPts val="600"/>
              </a:spcBef>
              <a:defRPr sz="1700" b="0">
                <a:solidFill>
                  <a:srgbClr val="1A1A1A"/>
                </a:solidFill>
                <a:latin typeface="Calibri"/>
              </a:defRPr>
            </a:pPr>
            <a:r>
              <a:t>High-level features (Conv4, 7×7) encode spatial relationships between chart elements.</a:t>
            </a:r>
          </a:p>
          <a:p>
            <a:pPr>
              <a:spcBef>
                <a:spcPts val="600"/>
              </a:spcBef>
              <a:defRPr sz="1700" b="0">
                <a:solidFill>
                  <a:srgbClr val="555555"/>
                </a:solidFill>
                <a:latin typeface="Calibri"/>
              </a:defRPr>
            </a:pPr>
            <a:r>
              <a:t>Both pooled to 7×7, projected to 512 dims, combined via element-wise addition + LayerNorm.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5. Text Encoder: 6-Layer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libri"/>
              </a:defRPr>
            </a:pPr>
            <a:r>
              <a:t>Built entirely from scratch — every attention head, projection, and layer norm hand-implemented.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54864" cy="4572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128-word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Templated questions → small vocab, no subword tokenization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46120"/>
            <a:ext cx="54864" cy="4572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Sinusoidal positional 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Deterministic, no extra trainable parameters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14800"/>
            <a:ext cx="54864" cy="4572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Padding mask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Variable-length questions handled with attention masking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54864" cy="4572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6 layers, 8 heads, 512 dims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Standard Transformer configuration from 'Attention Is All You Need'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6. Where Vision Meets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libri"/>
              </a:defRPr>
            </a:pPr>
            <a:r>
              <a:t>Cross-attention allows text tokens to query image features — each word learns which spatial regions of the chart are relevant to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743200"/>
            <a:ext cx="4114800" cy="1828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4A86C8"/>
                </a:solidFill>
              </a:defRPr>
            </a:pPr>
            <a:r>
              <a:t>Layer 1</a:t>
            </a:r>
          </a:p>
          <a:p>
            <a:pPr algn="ctr">
              <a:spcBef>
                <a:spcPts val="800"/>
              </a:spcBef>
              <a:defRPr sz="1600">
                <a:solidFill>
                  <a:srgbClr val="555555"/>
                </a:solidFill>
              </a:defRPr>
            </a:pPr>
            <a:r>
              <a:t>Locates relevant colors</a:t>
            </a:r>
            <a:br/>
            <a:r>
              <a:t>in the 7×7 spatial grid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743200"/>
            <a:ext cx="4114800" cy="1828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5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A9E5A"/>
                </a:solidFill>
              </a:defRPr>
            </a:pPr>
            <a:r>
              <a:t>Layer 2</a:t>
            </a:r>
          </a:p>
          <a:p>
            <a:pPr algn="ctr">
              <a:spcBef>
                <a:spcPts val="800"/>
              </a:spcBef>
              <a:defRPr sz="1600">
                <a:solidFill>
                  <a:srgbClr val="555555"/>
                </a:solidFill>
              </a:defRPr>
            </a:pPr>
            <a:r>
              <a:t>Compares values between</a:t>
            </a:r>
            <a:br/>
            <a:r>
              <a:t>located regions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486400" y="3383280"/>
            <a:ext cx="914400" cy="45720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Worked example: "Is navy blue greater than crimson?"</a:t>
            </a:r>
          </a:p>
          <a:p>
            <a:pPr>
              <a:spcBef>
                <a:spcPts val="600"/>
              </a:spcBef>
              <a:defRPr sz="1600" b="0">
                <a:solidFill>
                  <a:srgbClr val="555555"/>
                </a:solidFill>
                <a:latin typeface="Calibri"/>
              </a:defRPr>
            </a:pPr>
            <a:r>
              <a:t>Layer 1 finds both colors → Layer 2 compares their values → Mean-pool → MLP(512→512→2) → Yes/No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7. Training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86C8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1148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86C8"/>
                </a:solidFill>
                <a:latin typeface="Calibri"/>
              </a:defRPr>
            </a:pPr>
            <a:r>
              <a:t>From-Scratch 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86C8"/>
                </a:solidFill>
                <a:latin typeface="Calibri"/>
              </a:defRPr>
            </a:pPr>
            <a:r>
              <a:t>ResNet-18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555"/>
                </a:solidFill>
                <a:latin typeface="Calibri"/>
              </a:defRPr>
            </a:pPr>
            <a:r>
              <a:t>Image 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105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Custom 4-layer 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105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Pretrained ResNet-18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942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555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494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21.9M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2494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26.2M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883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555"/>
                </a:solidFill>
                <a:latin typeface="Calibri"/>
              </a:defRPr>
            </a:pPr>
            <a:r>
              <a:t>Optimizer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6883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AdamW (wd=0.01)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6883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AdamW (wd=0.01)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272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555"/>
                </a:solidFill>
                <a:latin typeface="Calibri"/>
              </a:defRPr>
            </a:pPr>
            <a:r>
              <a:t>Learning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1272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3e-4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1272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5e-4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555"/>
                </a:solidFill>
                <a:latin typeface="Calibri"/>
              </a:defRPr>
            </a:pPr>
            <a:r>
              <a:t>LR Schedule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Cosine + 1-epoch warmup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Cosine + 1-epoch warmup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05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555"/>
                </a:solidFill>
                <a:latin typeface="Calibri"/>
              </a:defRPr>
            </a:pPr>
            <a:r>
              <a:t>Batch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0050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1024 (FP32)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0050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4096 (FP16)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4398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555"/>
                </a:solidFill>
                <a:latin typeface="Calibri"/>
              </a:defRPr>
            </a:pPr>
            <a:r>
              <a:t>GPU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4439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A100 40GB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4439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A100 80GB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8289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555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8828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FP32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8828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FP16 Mixed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218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555"/>
                </a:solidFill>
                <a:latin typeface="Calibri"/>
              </a:defRPr>
            </a:pPr>
            <a:r>
              <a:t>Training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3218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~4–5 hours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3218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~1 hour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60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555"/>
                </a:solidFill>
                <a:latin typeface="Calibri"/>
              </a:defRPr>
            </a:pPr>
            <a:r>
              <a:t>Epochs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8. Regularization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libri"/>
              </a:defRPr>
            </a:pPr>
            <a:r>
              <a:t>Four complementary strategies to prevent overfitting on 1.06M training examples: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515600" cy="9144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Label Smoothing (0.1)</a:t>
            </a:r>
          </a:p>
          <a:p>
            <a:pPr>
              <a:spcBef>
                <a:spcPts val="400"/>
              </a:spcBef>
              <a:defRPr sz="1500">
                <a:solidFill>
                  <a:srgbClr val="555555"/>
                </a:solidFill>
              </a:defRPr>
            </a:pPr>
            <a:r>
              <a:t>Softens hard targets [1,0] → [0.9, 0.1], preventing overconfident predictions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515600" cy="9144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5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Dropout (0.15)</a:t>
            </a:r>
          </a:p>
          <a:p>
            <a:pPr>
              <a:spcBef>
                <a:spcPts val="400"/>
              </a:spcBef>
              <a:defRPr sz="1500">
                <a:solidFill>
                  <a:srgbClr val="555555"/>
                </a:solidFill>
              </a:defRPr>
            </a:pPr>
            <a:r>
              <a:t>Applied in self-attention, feed-forward network, and MLP classifier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515600" cy="9144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49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Weight Decay (0.01)</a:t>
            </a:r>
          </a:p>
          <a:p>
            <a:pPr>
              <a:spcBef>
                <a:spcPts val="400"/>
              </a:spcBef>
              <a:defRPr sz="1500">
                <a:solidFill>
                  <a:srgbClr val="555555"/>
                </a:solidFill>
              </a:defRPr>
            </a:pPr>
            <a:r>
              <a:t>AdamW decoupled L2 regularization — penalizes large weights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515600" cy="9144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Transfer Learning (ResNet only)</a:t>
            </a:r>
          </a:p>
          <a:p>
            <a:pPr>
              <a:spcBef>
                <a:spcPts val="400"/>
              </a:spcBef>
              <a:defRPr sz="1500">
                <a:solidFill>
                  <a:srgbClr val="555555"/>
                </a:solidFill>
              </a:defRPr>
            </a:pPr>
            <a:r>
              <a:t>ImageNet pretraining constrains the image encoder to a good weight region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9. From-Scratch CNN Results</a:t>
            </a:r>
          </a:p>
        </p:txBody>
      </p:sp>
      <p:pic>
        <p:nvPicPr>
          <p:cNvPr id="4" name="Picture 3" descr="training_curv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3716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86C8"/>
                </a:solidFill>
                <a:latin typeface="Calibri"/>
              </a:defRPr>
            </a:pPr>
            <a:r>
              <a:t>Test Results</a:t>
            </a:r>
          </a:p>
          <a:p>
            <a:pPr>
              <a:spcBef>
                <a:spcPts val="600"/>
              </a:spcBef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1A1A1A"/>
                </a:solidFill>
                <a:latin typeface="Calibri"/>
              </a:defRPr>
            </a:pPr>
            <a:r>
              <a:t>Overall Accuracy:  56.72%</a:t>
            </a:r>
          </a:p>
          <a:p>
            <a:pPr>
              <a:spcBef>
                <a:spcPts val="600"/>
              </a:spcBef>
              <a:defRPr sz="1600" b="0">
                <a:solidFill>
                  <a:srgbClr val="1A1A1A"/>
                </a:solidFill>
                <a:latin typeface="Calibri"/>
              </a:defRPr>
            </a:pPr>
            <a:r>
              <a:t>Yes Accuracy:  53.67%</a:t>
            </a:r>
          </a:p>
          <a:p>
            <a:pPr>
              <a:spcBef>
                <a:spcPts val="600"/>
              </a:spcBef>
              <a:defRPr sz="1600" b="0">
                <a:solidFill>
                  <a:srgbClr val="1A1A1A"/>
                </a:solidFill>
                <a:latin typeface="Calibri"/>
              </a:defRPr>
            </a:pPr>
            <a:r>
              <a:t>No Accuracy:  59.76%</a:t>
            </a:r>
          </a:p>
          <a:p>
            <a:pPr>
              <a:spcBef>
                <a:spcPts val="600"/>
              </a:spcBef>
              <a:defRPr sz="10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555555"/>
                </a:solidFill>
                <a:latin typeface="Calibri"/>
              </a:defRPr>
            </a:pPr>
            <a:r>
              <a:t>Balanced predictions, no class bias.</a:t>
            </a:r>
          </a:p>
          <a:p>
            <a:pPr>
              <a:spcBef>
                <a:spcPts val="600"/>
              </a:spcBef>
              <a:defRPr sz="1600" b="0">
                <a:solidFill>
                  <a:srgbClr val="555555"/>
                </a:solidFill>
                <a:latin typeface="Calibri"/>
              </a:defRPr>
            </a:pPr>
            <a:r>
              <a:t>Plateaued at epochs 7–8.</a:t>
            </a:r>
          </a:p>
          <a:p>
            <a:pPr>
              <a:spcBef>
                <a:spcPts val="600"/>
              </a:spcBef>
              <a:defRPr sz="10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D4944A"/>
                </a:solidFill>
                <a:latin typeface="Calibri"/>
              </a:defRPr>
            </a:pPr>
            <a:r>
              <a:t>Bottleneck: 4 conv layers trained on 80K images cannot learn fine-grained color discrimination.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10. Transfer Learning: ImageNet → Chart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Rich visual priors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ImageNet's 1.2M images teach colors, textures, and edges — exactly what chart VQA demands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4864" cy="4572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Data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80K chart images aren't enough from scratch. Pretrained weights provide a massive head start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54864" cy="4572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Low-level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Early CNN layers detect edges and color boundaries — transfers directly from photos to charts</a:t>
            </a:r>
          </a:p>
        </p:txBody>
      </p:sp>
      <p:pic>
        <p:nvPicPr>
          <p:cNvPr id="13" name="Picture 12" descr="architecture_res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4846320" cy="3200400"/>
          </a:xfrm>
          <a:prstGeom prst="rect">
            <a:avLst/>
          </a:prstGeom>
        </p:spPr>
      </p:pic>
      <p:pic>
        <p:nvPicPr>
          <p:cNvPr id="14" name="Picture 13" descr="param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389120"/>
            <a:ext cx="91440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11. ResNet-18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16459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5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3200" b="1">
                <a:solidFill>
                  <a:srgbClr val="5A9E5A"/>
                </a:solidFill>
              </a:defRPr>
            </a:pPr>
            <a:r>
              <a:t>66.08% test accuracy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+9.4 percentage points over from-scratch CNN</a:t>
            </a:r>
          </a:p>
          <a:p>
            <a:pPr>
              <a:spcBef>
                <a:spcPts val="400"/>
              </a:spcBef>
              <a:defRPr sz="1600">
                <a:solidFill>
                  <a:srgbClr val="555555"/>
                </a:solidFill>
              </a:defRPr>
            </a:pPr>
            <a:r>
              <a:t>Still improving at epoch 10 — no plateau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86C8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86C8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55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Random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7556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50.0%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396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Ours (from-scratch CNN)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1396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A9E5A"/>
                </a:solidFill>
                <a:latin typeface="Calibri"/>
              </a:defRPr>
            </a:pPr>
            <a:r>
              <a:t>56.7%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5237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FigureQA paper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5237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~62%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9077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Ours (ResNet-18)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907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A9E5A"/>
                </a:solidFill>
                <a:latin typeface="Calibri"/>
              </a:defRPr>
            </a:pPr>
            <a:r>
              <a:t>66.1%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291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Published SOTA (RN)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72–76%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6758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Published SOTA (PReFIL)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6758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93–96%</a:t>
            </a:r>
          </a:p>
        </p:txBody>
      </p:sp>
      <p:pic>
        <p:nvPicPr>
          <p:cNvPr id="19" name="Picture 18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74720"/>
            <a:ext cx="10515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12. Training Dynamics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800" b="1">
                <a:solidFill>
                  <a:srgbClr val="4A86C8"/>
                </a:solidFill>
              </a:defRPr>
            </a:pPr>
            <a:r>
              <a:t>Warmup phase (epoch 1)</a:t>
            </a:r>
          </a:p>
          <a:p>
            <a:pPr>
              <a:spcBef>
                <a:spcPts val="400"/>
              </a:spcBef>
              <a:defRPr sz="1400">
                <a:solidFill>
                  <a:srgbClr val="555555"/>
                </a:solidFill>
              </a:defRPr>
            </a:pPr>
            <a:r>
              <a:t>LR ramps linearly from 0 to peak. Model reaches ~55% accuracy — necessary for stability with large batches and Transformer's sensitivity to initial LR.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515600" cy="10972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49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800" b="1">
                <a:solidFill>
                  <a:srgbClr val="D4944A"/>
                </a:solidFill>
              </a:defRPr>
            </a:pPr>
            <a:r>
              <a:t>CNN plateau (epochs 7–8)</a:t>
            </a:r>
          </a:p>
          <a:p>
            <a:pPr>
              <a:spcBef>
                <a:spcPts val="400"/>
              </a:spcBef>
              <a:defRPr sz="1400">
                <a:solidFill>
                  <a:srgbClr val="555555"/>
                </a:solidFill>
              </a:defRPr>
            </a:pPr>
            <a:r>
              <a:t>From-scratch CNN hits 56.5% ceiling. Fundamental limitation: 4 conv layers on 80K images cannot learn fine-grained color representations.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515600" cy="10972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5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800" b="1">
                <a:solidFill>
                  <a:srgbClr val="5A9E5A"/>
                </a:solidFill>
              </a:defRPr>
            </a:pPr>
            <a:r>
              <a:t>ResNet keeps learning</a:t>
            </a:r>
          </a:p>
          <a:p>
            <a:pPr>
              <a:spcBef>
                <a:spcPts val="400"/>
              </a:spcBef>
              <a:defRPr sz="1400">
                <a:solidFill>
                  <a:srgbClr val="555555"/>
                </a:solidFill>
              </a:defRPr>
            </a:pPr>
            <a:r>
              <a:t>66.1% after 10 epochs with no plateau. Pretrained backbone enables continued improvement — more epochs could push toward 70%+.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10515600" cy="10972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+15.4pp on Yes questions</a:t>
            </a:r>
          </a:p>
          <a:p>
            <a:pPr>
              <a:spcBef>
                <a:spcPts val="400"/>
              </a:spcBef>
              <a:defRPr sz="1400">
                <a:solidFill>
                  <a:srgbClr val="555555"/>
                </a:solidFill>
              </a:defRPr>
            </a:pPr>
            <a:r>
              <a:t>Yes: 53.7% → 69.1%, No: 59.8% → 63.1%. Transfer learning disproportionately helps affirmative reasoning — recognizing a color is present requires finer discrimination.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13. 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86C8"/>
                </a:solidFill>
                <a:latin typeface="Calibri"/>
              </a:defRPr>
            </a:pPr>
            <a:r>
              <a:t>Why 512 embedding dim?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Matches ResNet-18 feature map width. Divides into 8 heads × 64 dims — standard from 'Attention Is All You Need.'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86C8"/>
                </a:solidFill>
                <a:latin typeface="Calibri"/>
              </a:defRPr>
            </a:pPr>
            <a:r>
              <a:t>Why 2 cross-attention layers?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1488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Layer 1 finds colors, layer 2 compares values. One layer locates; two layers reason.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86C8"/>
                </a:solidFill>
                <a:latin typeface="Calibri"/>
              </a:defRPr>
            </a:pPr>
            <a:r>
              <a:t>Why multi-scale CNN?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9260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Mid-level (Conv3) = colors &amp; edges. High-level (Conv4) = spatial layout. Both needed for chart VQA.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86C8"/>
                </a:solidFill>
                <a:latin typeface="Calibri"/>
              </a:defRPr>
            </a:pPr>
            <a:r>
              <a:t>Why split by image?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7033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Each chart → ~13 QA pairs. Random split leaks features, inflating accuracy by up to 10%.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86C8"/>
                </a:solidFill>
                <a:latin typeface="Calibri"/>
              </a:defRPr>
            </a:pPr>
            <a:r>
              <a:t>Why mean-pool?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4805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Simple aggregation. Fewer params than attention pooling, competitive for binary classification.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86C8"/>
                </a:solidFill>
                <a:latin typeface="Calibri"/>
              </a:defRPr>
            </a:pPr>
            <a:r>
              <a:t>Why sinusoidal encoding?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52578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Deterministic, no trainable params. 128 vocab + 32 seq length doesn't benefit from learned encodings.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14. 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4864" cy="4572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A9E5A"/>
                </a:solidFill>
                <a:latin typeface="Calibri"/>
              </a:defRPr>
            </a:pPr>
            <a:r>
              <a:t>Transfer learning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+9.4pp from ImageNet pretraining. Pretrained color and texture features transfer directly to chart understanding, beating the FigureQA baseline.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54864" cy="4572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86C8"/>
                </a:solidFill>
                <a:latin typeface="Calibri"/>
              </a:defRPr>
            </a:pPr>
            <a:r>
              <a:t>Cross-attention fuses modalities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Two-layer cross-attention bridges vision and language. Text tokens attend to spatially relevant image regions for multi-step reasoning.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29000"/>
            <a:ext cx="54864" cy="4572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944A"/>
                </a:solidFill>
                <a:latin typeface="Calibri"/>
              </a:defRPr>
            </a:pPr>
            <a:r>
              <a:t>Color is the 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Fine-grained color discrimination remains the core challenge. The gap between 66% and SOTA 93%+ is primarily about distinguishing similar chart colors.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• More epochs — ResNet still improving at epoch 10, could push toward 70%+</a:t>
            </a:r>
          </a:p>
          <a:p>
            <a:pPr>
              <a:spcBef>
                <a:spcPts val="600"/>
              </a:spcBef>
              <a:defRPr sz="1600" b="0">
                <a:solidFill>
                  <a:srgbClr val="1A1A1A"/>
                </a:solidFill>
                <a:latin typeface="Calibri"/>
              </a:defRPr>
            </a:pPr>
            <a:r>
              <a:t>• Larger backbones — ResNet-50 or Vision Transformer (ViT)</a:t>
            </a:r>
          </a:p>
          <a:p>
            <a:pPr>
              <a:spcBef>
                <a:spcPts val="600"/>
              </a:spcBef>
              <a:defRPr sz="1600" b="0">
                <a:solidFill>
                  <a:srgbClr val="1A1A1A"/>
                </a:solidFill>
                <a:latin typeface="Calibri"/>
              </a:defRPr>
            </a:pPr>
            <a:r>
              <a:t>• Open-ended QA — extend beyond binary Yes/No to free-form answers</a:t>
            </a:r>
          </a:p>
          <a:p>
            <a:pPr>
              <a:spcBef>
                <a:spcPts val="600"/>
              </a:spcBef>
              <a:defRPr sz="1600" b="0">
                <a:solidFill>
                  <a:srgbClr val="1A1A1A"/>
                </a:solidFill>
                <a:latin typeface="Calibri"/>
              </a:defRPr>
            </a:pPr>
            <a:r>
              <a:t>• Attention visualization — overlay cross-attention weights on charts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55555"/>
                </a:solidFill>
                <a:latin typeface="Calibri"/>
              </a:defRPr>
            </a:pPr>
            <a:r>
              <a:t>Ahmad Agah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A86C8"/>
                </a:solidFill>
                <a:latin typeface="Calibri"/>
              </a:defRPr>
            </a:pPr>
            <a:r>
              <a:t>github.com/ahmadagah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